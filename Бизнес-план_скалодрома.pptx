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2"/>
    <p:restoredTop sz="97286"/>
  </p:normalViewPr>
  <p:slideViewPr>
    <p:cSldViewPr snapToGrid="0" snapToObjects="1">
      <p:cViewPr varScale="1">
        <p:scale>
          <a:sx n="209" d="100"/>
          <a:sy n="209" d="100"/>
        </p:scale>
        <p:origin x="200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144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latin typeface="Arial"/>
              </a:defRPr>
            </a:pPr>
            <a:r>
              <a:t>Кафедральный контроль. Бизнес-план скалодрома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347" y="5394960"/>
            <a:ext cx="57375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latin typeface="Arial"/>
              </a:defRPr>
            </a:pPr>
            <a:r>
              <a:rPr dirty="0" err="1"/>
              <a:t>Выполнил</a:t>
            </a:r>
            <a:r>
              <a:rPr dirty="0"/>
              <a:t>: ___</a:t>
            </a:r>
            <a:r>
              <a:rPr lang="ru-RU" dirty="0"/>
              <a:t>Израилев Максим </a:t>
            </a:r>
            <a:r>
              <a:rPr dirty="0"/>
              <a:t>____, </a:t>
            </a:r>
            <a:r>
              <a:rPr dirty="0" err="1"/>
              <a:t>гр</a:t>
            </a:r>
            <a:r>
              <a:rPr dirty="0"/>
              <a:t>. </a:t>
            </a:r>
            <a:r>
              <a:rPr lang="ru-RU" dirty="0"/>
              <a:t> 319</a:t>
            </a:r>
            <a:r>
              <a:rPr dirty="0"/>
              <a:t>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rPr dirty="0" err="1"/>
              <a:t>Концепция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371579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rPr dirty="0" err="1"/>
              <a:t>Современный</a:t>
            </a:r>
            <a:r>
              <a:rPr dirty="0"/>
              <a:t> </a:t>
            </a:r>
            <a:r>
              <a:rPr dirty="0" err="1"/>
              <a:t>крытый</a:t>
            </a:r>
            <a:r>
              <a:rPr dirty="0"/>
              <a:t> </a:t>
            </a:r>
            <a:r>
              <a:rPr dirty="0" err="1"/>
              <a:t>скалодром</a:t>
            </a:r>
            <a:r>
              <a:rPr dirty="0"/>
              <a:t> </a:t>
            </a:r>
            <a:r>
              <a:rPr dirty="0" err="1"/>
              <a:t>полного</a:t>
            </a:r>
            <a:r>
              <a:rPr dirty="0"/>
              <a:t> </a:t>
            </a:r>
            <a:r>
              <a:rPr dirty="0" err="1"/>
              <a:t>цикла</a:t>
            </a:r>
            <a:r>
              <a:rPr dirty="0"/>
              <a:t>: </a:t>
            </a:r>
            <a:r>
              <a:rPr dirty="0" err="1"/>
              <a:t>боулдеринг</a:t>
            </a:r>
            <a:r>
              <a:rPr dirty="0"/>
              <a:t>, </a:t>
            </a:r>
            <a:r>
              <a:rPr dirty="0" err="1"/>
              <a:t>верхняя</a:t>
            </a:r>
            <a:r>
              <a:rPr dirty="0"/>
              <a:t> </a:t>
            </a:r>
            <a:r>
              <a:rPr dirty="0" err="1"/>
              <a:t>прямая</a:t>
            </a:r>
            <a:r>
              <a:rPr dirty="0"/>
              <a:t>, </a:t>
            </a:r>
            <a:r>
              <a:rPr dirty="0" err="1"/>
              <a:t>детская</a:t>
            </a:r>
            <a:r>
              <a:rPr dirty="0"/>
              <a:t> </a:t>
            </a:r>
            <a:r>
              <a:rPr dirty="0" err="1"/>
              <a:t>школа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rPr dirty="0" err="1"/>
              <a:t>Площадь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dirty="0"/>
              <a:t> — 850 м², </a:t>
            </a:r>
            <a:r>
              <a:rPr dirty="0" err="1"/>
              <a:t>потолки</a:t>
            </a:r>
            <a:r>
              <a:rPr dirty="0"/>
              <a:t> 5.6 </a:t>
            </a:r>
            <a:r>
              <a:rPr dirty="0" err="1"/>
              <a:t>м</a:t>
            </a:r>
            <a:r>
              <a:rPr dirty="0"/>
              <a:t> (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зон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12–14 </a:t>
            </a:r>
            <a:r>
              <a:rPr dirty="0" err="1"/>
              <a:t>м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навесом</a:t>
            </a:r>
            <a:r>
              <a:rPr dirty="0"/>
              <a:t>).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rPr dirty="0" err="1"/>
              <a:t>Целевая</a:t>
            </a:r>
            <a:r>
              <a:rPr dirty="0"/>
              <a:t> </a:t>
            </a:r>
            <a:r>
              <a:rPr dirty="0" err="1"/>
              <a:t>аудитория</a:t>
            </a:r>
            <a:r>
              <a:rPr dirty="0"/>
              <a:t>: </a:t>
            </a:r>
            <a:r>
              <a:rPr dirty="0" err="1"/>
              <a:t>любители</a:t>
            </a:r>
            <a:r>
              <a:rPr dirty="0"/>
              <a:t> 18–45 </a:t>
            </a:r>
            <a:r>
              <a:rPr dirty="0" err="1"/>
              <a:t>лет</a:t>
            </a:r>
            <a:r>
              <a:rPr dirty="0"/>
              <a:t>, </a:t>
            </a:r>
            <a:r>
              <a:rPr dirty="0" err="1"/>
              <a:t>дети</a:t>
            </a:r>
            <a:r>
              <a:rPr dirty="0"/>
              <a:t> 6–16, </a:t>
            </a:r>
            <a:r>
              <a:rPr dirty="0" err="1"/>
              <a:t>корпоративные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, </a:t>
            </a:r>
            <a:r>
              <a:rPr dirty="0" err="1"/>
              <a:t>фитнес-аудитория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rPr dirty="0" err="1"/>
              <a:t>Форматы</a:t>
            </a:r>
            <a:r>
              <a:rPr dirty="0"/>
              <a:t>: </a:t>
            </a:r>
            <a:r>
              <a:rPr dirty="0" err="1"/>
              <a:t>разовые</a:t>
            </a:r>
            <a:r>
              <a:rPr dirty="0"/>
              <a:t> </a:t>
            </a:r>
            <a:r>
              <a:rPr dirty="0" err="1"/>
              <a:t>визиты</a:t>
            </a:r>
            <a:r>
              <a:rPr dirty="0"/>
              <a:t>, </a:t>
            </a:r>
            <a:r>
              <a:rPr dirty="0" err="1"/>
              <a:t>абонементы</a:t>
            </a:r>
            <a:r>
              <a:rPr dirty="0"/>
              <a:t>, </a:t>
            </a:r>
            <a:r>
              <a:rPr dirty="0" err="1"/>
              <a:t>секции</a:t>
            </a:r>
            <a:r>
              <a:rPr dirty="0"/>
              <a:t>, </a:t>
            </a:r>
            <a:r>
              <a:rPr dirty="0" err="1"/>
              <a:t>аренда</a:t>
            </a:r>
            <a:r>
              <a:rPr dirty="0"/>
              <a:t> </a:t>
            </a:r>
            <a:r>
              <a:rPr dirty="0" err="1"/>
              <a:t>зала</a:t>
            </a:r>
            <a:r>
              <a:rPr dirty="0"/>
              <a:t>, </a:t>
            </a:r>
            <a:r>
              <a:rPr dirty="0" err="1"/>
              <a:t>дни</a:t>
            </a:r>
            <a:r>
              <a:rPr dirty="0"/>
              <a:t> </a:t>
            </a:r>
            <a:r>
              <a:rPr dirty="0" err="1"/>
              <a:t>рождения</a:t>
            </a:r>
            <a:r>
              <a:rPr dirty="0"/>
              <a:t>, </a:t>
            </a:r>
            <a:r>
              <a:rPr dirty="0" err="1"/>
              <a:t>корпоративы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  <a:latin typeface="Arial"/>
              </a:defRPr>
            </a:pPr>
            <a:r>
              <a:rPr dirty="0"/>
              <a:t>УТП: </a:t>
            </a:r>
            <a:r>
              <a:rPr dirty="0" err="1"/>
              <a:t>транспортная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(</a:t>
            </a:r>
            <a:r>
              <a:rPr dirty="0" err="1"/>
              <a:t>м</a:t>
            </a:r>
            <a:r>
              <a:rPr dirty="0"/>
              <a:t>. </a:t>
            </a:r>
            <a:r>
              <a:rPr dirty="0" err="1"/>
              <a:t>Площадь</a:t>
            </a:r>
            <a:r>
              <a:rPr dirty="0"/>
              <a:t> </a:t>
            </a:r>
            <a:r>
              <a:rPr dirty="0" err="1"/>
              <a:t>Ленина</a:t>
            </a:r>
            <a:r>
              <a:rPr dirty="0"/>
              <a:t>), </a:t>
            </a:r>
            <a:r>
              <a:rPr dirty="0" err="1"/>
              <a:t>кафе</a:t>
            </a:r>
            <a:r>
              <a:rPr dirty="0"/>
              <a:t>, </a:t>
            </a:r>
            <a:r>
              <a:rPr dirty="0" err="1"/>
              <a:t>прокат</a:t>
            </a:r>
            <a:r>
              <a:rPr dirty="0"/>
              <a:t>, </a:t>
            </a:r>
            <a:r>
              <a:rPr dirty="0" err="1"/>
              <a:t>безопасные</a:t>
            </a:r>
            <a:r>
              <a:rPr dirty="0"/>
              <a:t> auto-belay.</a:t>
            </a:r>
          </a:p>
        </p:txBody>
      </p:sp>
      <p:pic>
        <p:nvPicPr>
          <p:cNvPr id="5" name="Picture 4" descr="climbing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0634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Ссылка на объявление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66CC"/>
                </a:solidFill>
                <a:latin typeface="Arial"/>
              </a:defRPr>
            </a:pPr>
            <a:r>
              <a:t>• https://www.avito.ru/sankt-peterburg/kommercheskaya_nedvizhimost/svobodnogo_naznacheniya_proizvodstvo_850_m_7985954480</a:t>
            </a:r>
          </a:p>
        </p:txBody>
      </p:sp>
      <p:pic>
        <p:nvPicPr>
          <p:cNvPr id="5" name="Picture 4" descr="warehous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577840" cy="3718560"/>
          </a:xfrm>
          <a:prstGeom prst="rect">
            <a:avLst/>
          </a:prstGeom>
        </p:spPr>
      </p:pic>
      <p:pic>
        <p:nvPicPr>
          <p:cNvPr id="6" name="Picture 5" descr="warehouse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577840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Характеристика сооружения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Arial"/>
              </a:defRPr>
            </a:pPr>
            <a:r>
              <a:t>Адрес: г. Санкт-Петербург, Кондратьевский пр-т, 2П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Arial"/>
              </a:defRPr>
            </a:pPr>
            <a:r>
              <a:t>Площадь помещения: 850 м²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Arial"/>
              </a:defRPr>
            </a:pPr>
            <a:r>
              <a:t>Этаж: 1, отдельный вход с улицы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Arial"/>
              </a:defRPr>
            </a:pPr>
            <a:r>
              <a:t>Высота потолков: 5.6 м (зонирование: боулдеринг 4,5 м + верхние секции до 12 м)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Arial"/>
              </a:defRPr>
            </a:pPr>
            <a:r>
              <a:t>Состояние: чистовая отделка, бетонный пол, ворота 3×4 м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Arial"/>
              </a:defRPr>
            </a:pPr>
            <a:r>
              <a:t>Аренда: 765 000 ₽/мес (900 ₽/м²)  залог 1 530 000 ₽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Arial"/>
              </a:defRPr>
            </a:pPr>
            <a:r>
              <a:t>Коммуникации: отопление, ХВС, канализация, 80 кВт (расширяемо)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Arial"/>
              </a:defRPr>
            </a:pPr>
            <a:r>
              <a:t>Охрана 24/7, СКУД, видеонаблюдение, пожарная сигнализация</a:t>
            </a:r>
          </a:p>
        </p:txBody>
      </p:sp>
      <p:pic>
        <p:nvPicPr>
          <p:cNvPr id="5" name="Picture 4" descr="warehous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2926080" cy="1950720"/>
          </a:xfrm>
          <a:prstGeom prst="rect">
            <a:avLst/>
          </a:prstGeom>
        </p:spPr>
      </p:pic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200400"/>
            <a:ext cx="2926080" cy="2048256"/>
          </a:xfrm>
          <a:prstGeom prst="rect">
            <a:avLst/>
          </a:prstGeom>
        </p:spPr>
      </p:pic>
      <p:pic>
        <p:nvPicPr>
          <p:cNvPr id="7" name="Picture 6" descr="listing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246120"/>
            <a:ext cx="2286000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Планировка сооружения</a:t>
            </a:r>
          </a:p>
        </p:txBody>
      </p:sp>
      <p:pic>
        <p:nvPicPr>
          <p:cNvPr id="4" name="Picture 3" descr="floor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258560" cy="51206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40680" y="1234440"/>
          <a:ext cx="5440680" cy="4002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043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№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Зона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Площадь (м²)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Вместимость / назначение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Боулдеринг (основной зал)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до 70 одновременно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Высотные дорожки + auto-belay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16 линий, 48 человек/час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Детская зона и школа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4 группы по 10 детей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Женская раздевалка + душ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20–25 человек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Мужская раздевалка + душ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15–18 человек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Ресепшен + кафе + лаунж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40 посадочных мест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Прокат, инвентарная, подсобные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хранение снаряжения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Коридоры, техзоны, СКУД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5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Итого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Всего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850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imb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068" y="1302434"/>
            <a:ext cx="566928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Arial"/>
              </a:defRPr>
            </a:pPr>
            <a:r>
              <a:t>Единоразовые расчёты + расчёты на инвентарь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4480560" cy="2916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Статья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Сумма (руб.)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Аренда (залог 1-й и последний месяц) 765 000 ×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1 530 000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Адаптация помещения (перегородки, раздевалки, душевые)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2 200 000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Вентиляция + отопление (усиление под зал)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450 000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Электрика, LED-освещение спортзон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380 000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Подготовка основания под маты и стены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320 000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Ресепшен, кафе, санузлы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280 000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Итого по помещению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5 160 000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097280"/>
          <a:ext cx="45720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043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Статья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Сумма (руб.)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Строительство боулдеринг-стены (280 м²)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4 500 000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Высотные секции + металлокаркас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3 800 000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Наборы зацепов (стартовый комплект)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650 000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Маты приземления, crash pads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920 000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Auto-belay TRUBLUE (6 шт.)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1 680 000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Прокат: страховки 60, обувь 100 пар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620 000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Верёвки, карабины, страховочные системы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185 000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t>Детское оборудование + POS/звук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215 000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5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Arial"/>
                        </a:defRPr>
                      </a:pPr>
                      <a:r>
                        <a:t>Итого инвентарь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Arial"/>
                        </a:defRPr>
                      </a:pPr>
                      <a:r>
                        <a:t>12 570 000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06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Arial"/>
              </a:defRPr>
            </a:pPr>
            <a:r>
              <a:rPr dirty="0" err="1"/>
              <a:t>Итого</a:t>
            </a:r>
            <a:r>
              <a:rPr dirty="0"/>
              <a:t> </a:t>
            </a:r>
            <a:r>
              <a:rPr dirty="0" err="1"/>
              <a:t>стартовых</a:t>
            </a:r>
            <a:r>
              <a:rPr dirty="0"/>
              <a:t> </a:t>
            </a:r>
            <a:r>
              <a:rPr dirty="0" err="1"/>
              <a:t>затрат</a:t>
            </a:r>
            <a:r>
              <a:rPr dirty="0"/>
              <a:t> (</a:t>
            </a:r>
            <a:r>
              <a:rPr dirty="0" err="1"/>
              <a:t>помещение</a:t>
            </a:r>
            <a:r>
              <a:rPr dirty="0"/>
              <a:t> </a:t>
            </a:r>
            <a:r>
              <a:rPr lang="ru-RU" dirty="0"/>
              <a:t>+</a:t>
            </a:r>
            <a:r>
              <a:rPr dirty="0"/>
              <a:t> </a:t>
            </a:r>
            <a:r>
              <a:rPr dirty="0" err="1"/>
              <a:t>инвентарь</a:t>
            </a:r>
            <a:r>
              <a:rPr dirty="0"/>
              <a:t>): 17 730 000 </a:t>
            </a:r>
            <a:r>
              <a:rPr dirty="0" err="1"/>
              <a:t>рублей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Ежемесячные расходы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0467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043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Статья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Сумма (руб.)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Примечание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Аренда помещения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765 000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по объявлению Avito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Коммунальные (свет, вода, отопление, вывоз)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120 000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850 м², душевые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Зарплата: 4 тренера + 2 админа + менеджер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480 000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75+75+75+75 + 45+45 + 90, налоги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Клининг (4 раза в неделю)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~100 руб/м² × 850 м²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Расходники (мел, мыло, перчатки, мелки)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Интернет, телефон, 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Реклама (таргет, Яндекс, партнёрства)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ключевая статья первые 6 мес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3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Страхование + обслуживание стен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43 000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ОСО, ТО зацепов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52">
                <a:tc>
                  <a:txBody>
                    <a:bodyPr/>
                    <a:lstStyle/>
                    <a:p>
                      <a:pPr algn="l">
                        <a:defRPr sz="1100" b="1">
                          <a:latin typeface="Arial"/>
                        </a:defRPr>
                      </a:pPr>
                      <a:r>
                        <a:t>ИТОГО ежемесячных расходов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1 596 000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Доходы (прогноз 1-го месяца работы)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138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Статья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Сумма (руб.)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Примечание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Разовые визиты (800 ₽ × ~35/день × 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728 000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консервативный трафик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Абонементы (3 500 ₽ × 70 чел.)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245 000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удержание 2–3 мес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Детские секции и ДР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180 000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4 группы + 6 праздников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Корпоративы / аренда зала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120 000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2–3 события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t>Прокат, магазин, кафе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289 000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маржа 35–45%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latin typeface="Arial"/>
                        </a:defRPr>
                      </a:pPr>
                      <a:r>
                        <a:t>ИТОГО доходов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1 562 000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Arial"/>
                        </a:defRPr>
                      </a:pPr>
                      <a:r>
                        <a:t>при активном маркетинге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Arial"/>
              </a:defRPr>
            </a:pPr>
            <a:r>
              <a:t>Маржинальная прибыль 1-го месяца: -34 000 ₽. При росте трафика до 50–60 визитов/день выход на операционную окупаемость — 2–3-й месяц.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Окупаемость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Стартовые вложения: 17 730 000 руб.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Расходы в первый месяц: 1 596 000 руб.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Доходы в первый месяц: 1 562 000 руб.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Точка безубыточности по операционным расходам — с 2–3-го месяца при плановом трафике. Полная окупаемость инвестиций — ориентир 20–24 месяца; консервативно 28–32 месяца.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Ключевой риск: длительный набор клиентской базы и сезонность спроса.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Arial"/>
              </a:defRPr>
            </a:pPr>
            <a:r>
              <a:t>Рекомендация: пробные занятия, партнёрства со школами и фитнес-клубами, корпоративные пакеты.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2286000"/>
            <a:ext cx="914400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9560" y="2423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▲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2286000"/>
            <a:ext cx="914400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6840" y="2423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60541" y="2867465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Arial"/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786</Words>
  <Application>Microsoft Macintosh PowerPoint</Application>
  <PresentationFormat>Широкоэкранный</PresentationFormat>
  <Paragraphs>159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Максим Израилев</cp:lastModifiedBy>
  <cp:revision>3</cp:revision>
  <dcterms:created xsi:type="dcterms:W3CDTF">2013-01-27T09:14:16Z</dcterms:created>
  <dcterms:modified xsi:type="dcterms:W3CDTF">2026-05-26T08:19:46Z</dcterms:modified>
  <cp:category/>
</cp:coreProperties>
</file>